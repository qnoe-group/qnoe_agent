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2A3580">
              <a:alpha val="45000"/>
            </a:srgbClr>
          </a:solidFill>
          <a:ln w="12700">
            <a:solidFill>
              <a:srgbClr val="2A358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291840"/>
            <a:ext cx="2926080" cy="2926080"/>
          </a:xfrm>
          <a:prstGeom prst="ellipse">
            <a:avLst/>
          </a:prstGeom>
          <a:solidFill>
            <a:srgbClr val="1A4870">
              <a:alpha val="40000"/>
            </a:srgbClr>
          </a:solidFill>
          <a:ln w="12700">
            <a:solidFill>
              <a:srgbClr val="1A4870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QNOE Lab AI Agent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14400" y="2423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Briefing for the PI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474720" y="3108960"/>
            <a:ext cx="2194560" cy="36576"/>
          </a:xfrm>
          <a:prstGeom prst="rect">
            <a:avLst/>
          </a:prstGeom>
          <a:solidFill>
            <a:srgbClr val="4A8BBF"/>
          </a:solidFill>
          <a:ln w="12700">
            <a:solidFill>
              <a:srgbClr val="4A8B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A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ICFO Barcelona  ·  Frank Koppens Group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0"/>
          </a:xfrm>
          <a:prstGeom prst="line">
            <a:avLst/>
          </a:prstGeom>
          <a:noFill/>
          <a:ln w="12700">
            <a:solidFill>
              <a:srgbClr val="D1E8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22960"/>
            <a:ext cx="4297680" cy="502920"/>
          </a:xfrm>
          <a:prstGeom prst="rect">
            <a:avLst/>
          </a:prstGeom>
          <a:solidFill>
            <a:srgbClr val="1C6B9E"/>
          </a:solidFill>
          <a:ln w="12700">
            <a:solidFill>
              <a:srgbClr val="1C6B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85953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Teams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76072" y="1078992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51176" y="1325880"/>
            <a:ext cx="18288" cy="182880"/>
          </a:xfrm>
          <a:prstGeom prst="rect">
            <a:avLst/>
          </a:prstGeom>
          <a:solidFill>
            <a:srgbClr val="AACCE0"/>
          </a:solidFill>
          <a:ln w="12700">
            <a:solidFill>
              <a:srgbClr val="AACC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96312" y="1444752"/>
            <a:ext cx="128016" cy="64008"/>
          </a:xfrm>
          <a:prstGeom prst="rect">
            <a:avLst/>
          </a:prstGeom>
          <a:solidFill>
            <a:srgbClr val="AACCE0"/>
          </a:solidFill>
          <a:ln w="12700">
            <a:solidFill>
              <a:srgbClr val="AACC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508760"/>
            <a:ext cx="429768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154533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Orchestration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6072" y="1764792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routing · approval gates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51176" y="2011680"/>
            <a:ext cx="18288" cy="182880"/>
          </a:xfrm>
          <a:prstGeom prst="rect">
            <a:avLst/>
          </a:prstGeom>
          <a:solidFill>
            <a:srgbClr val="AACCE0"/>
          </a:solidFill>
          <a:ln w="12700">
            <a:solidFill>
              <a:srgbClr val="AACC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96312" y="2130552"/>
            <a:ext cx="128016" cy="64008"/>
          </a:xfrm>
          <a:prstGeom prst="rect">
            <a:avLst/>
          </a:prstGeom>
          <a:solidFill>
            <a:srgbClr val="AACCE0"/>
          </a:solidFill>
          <a:ln w="12700">
            <a:solidFill>
              <a:srgbClr val="AACC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194560"/>
            <a:ext cx="429768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223113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3 70B  ·  vLLM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6072" y="2450592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inference, 32K context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51176" y="2697480"/>
            <a:ext cx="18288" cy="182880"/>
          </a:xfrm>
          <a:prstGeom prst="rect">
            <a:avLst/>
          </a:prstGeom>
          <a:solidFill>
            <a:srgbClr val="AACCE0"/>
          </a:solidFill>
          <a:ln w="12700">
            <a:solidFill>
              <a:srgbClr val="AACC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96312" y="2816352"/>
            <a:ext cx="128016" cy="64008"/>
          </a:xfrm>
          <a:prstGeom prst="rect">
            <a:avLst/>
          </a:prstGeom>
          <a:solidFill>
            <a:srgbClr val="AACCE0"/>
          </a:solidFill>
          <a:ln w="12700">
            <a:solidFill>
              <a:srgbClr val="AACC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880360"/>
            <a:ext cx="4297680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" y="291693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+ SQLite + Skills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76072" y="3136392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memory · episodic · tools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51176" y="3383280"/>
            <a:ext cx="18288" cy="182880"/>
          </a:xfrm>
          <a:prstGeom prst="rect">
            <a:avLst/>
          </a:prstGeom>
          <a:solidFill>
            <a:srgbClr val="AACCE0"/>
          </a:solidFill>
          <a:ln w="12700">
            <a:solidFill>
              <a:srgbClr val="AACC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96312" y="3502152"/>
            <a:ext cx="128016" cy="64008"/>
          </a:xfrm>
          <a:prstGeom prst="rect">
            <a:avLst/>
          </a:prstGeom>
          <a:solidFill>
            <a:srgbClr val="AACCE0"/>
          </a:solidFill>
          <a:ln w="12700">
            <a:solidFill>
              <a:srgbClr val="AACC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3566160"/>
            <a:ext cx="429768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" y="360273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Shell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76072" y="3822192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· all permissions here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51176" y="4069080"/>
            <a:ext cx="18288" cy="182880"/>
          </a:xfrm>
          <a:prstGeom prst="rect">
            <a:avLst/>
          </a:prstGeom>
          <a:solidFill>
            <a:srgbClr val="AACCE0"/>
          </a:solidFill>
          <a:ln w="12700">
            <a:solidFill>
              <a:srgbClr val="AACC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96312" y="4187952"/>
            <a:ext cx="128016" cy="64008"/>
          </a:xfrm>
          <a:prstGeom prst="rect">
            <a:avLst/>
          </a:prstGeom>
          <a:solidFill>
            <a:srgbClr val="AACCE0"/>
          </a:solidFill>
          <a:ln w="12700">
            <a:solidFill>
              <a:srgbClr val="AACC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4251960"/>
            <a:ext cx="4297680" cy="5029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" y="428853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 ·  Data Server  ·  Literature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76072" y="4507992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resources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83480" y="8046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983480" y="1298448"/>
            <a:ext cx="37490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983480" y="1298448"/>
            <a:ext cx="54864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66360" y="133502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Fully local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66360" y="158191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leaves the lab network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983480" y="2002536"/>
            <a:ext cx="37490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983480" y="2002536"/>
            <a:ext cx="54864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203911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Continuous awareness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166360" y="22860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loop, gated write actions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983480" y="2706624"/>
            <a:ext cx="37490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983480" y="2706624"/>
            <a:ext cx="54864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66360" y="274320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Six specialist agents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166360" y="299008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sub-team + orchestrator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983480" y="3410712"/>
            <a:ext cx="37490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983480" y="3410712"/>
            <a:ext cx="54864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66360" y="344728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Full group knowledge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166360" y="369417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papers, books, notebooks indexed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983480" y="4114800"/>
            <a:ext cx="37490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983480" y="4114800"/>
            <a:ext cx="54864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66360" y="415137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Tiered permissions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166360" y="439826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T0–T4 enforced via open shell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Result — User Experience &amp; Permissions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0"/>
          </a:xfrm>
          <a:prstGeom prst="line">
            <a:avLst/>
          </a:prstGeom>
          <a:noFill/>
          <a:ln w="12700">
            <a:solidFill>
              <a:srgbClr val="D1E8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41248"/>
            <a:ext cx="2788920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41248"/>
            <a:ext cx="2788920" cy="47548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77824"/>
            <a:ext cx="2642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researchers experience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93192" y="1527048"/>
            <a:ext cx="128016" cy="1280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444752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the bot in Teams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93192" y="2084832"/>
            <a:ext cx="128016" cy="1280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2002536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sub-team selection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93192" y="2642616"/>
            <a:ext cx="128016" cy="1280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2560320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conversation memory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93192" y="3200400"/>
            <a:ext cx="128016" cy="1280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3118104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channel updates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93192" y="3758184"/>
            <a:ext cx="128016" cy="1280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3675888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/help  ·  /switch  commands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46120" y="841248"/>
            <a:ext cx="2788920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841248"/>
            <a:ext cx="2788920" cy="4754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5848" y="877824"/>
            <a:ext cx="2642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does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64992" y="1527048"/>
            <a:ext cx="128016" cy="12801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57016" y="1444752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over code, papers, notebooks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64992" y="2084832"/>
            <a:ext cx="128016" cy="12801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57016" y="2002536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and PR suggestions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64992" y="2642616"/>
            <a:ext cx="128016" cy="12801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57016" y="2560320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repo + literature re-index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64992" y="3200400"/>
            <a:ext cx="128016" cy="12801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57016" y="3118104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on failing notebooks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64992" y="3758184"/>
            <a:ext cx="128016" cy="12801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57016" y="3675888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new papers automatically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64992" y="4315968"/>
            <a:ext cx="128016" cy="12801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57016" y="4233672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commit alerts to sub-team channel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17920" y="841248"/>
            <a:ext cx="2788920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17920" y="841248"/>
            <a:ext cx="2788920" cy="47548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27648" y="877824"/>
            <a:ext cx="2642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permissions work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36792" y="1527048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28816" y="1444752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  Read &amp; analyse  —  always free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336792" y="2084832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28816" y="2002536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 Draft &amp; suggest  —  always free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336792" y="2642616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28816" y="2560320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 Write own repo  —  user confirms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336792" y="3200400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28816" y="3118104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 Shared resources  —  named approver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336792" y="3758184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28816" y="3675888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 Destructive  —  4-layer safety stack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336792" y="4315968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28816" y="4233672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enforced via open shell  (single point)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&amp; Memory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0"/>
          </a:xfrm>
          <a:prstGeom prst="line">
            <a:avLst/>
          </a:prstGeom>
          <a:noFill/>
          <a:ln w="12700">
            <a:solidFill>
              <a:srgbClr val="D1E8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22960"/>
            <a:ext cx="4160520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1605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822960"/>
            <a:ext cx="3904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System — Build Order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02336" y="1408176"/>
            <a:ext cx="347472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40817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42646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 (dense vectors)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6367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RAG over all content types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02336" y="2048256"/>
            <a:ext cx="347472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204825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0665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BM25 sparse vectors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2768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Exact-term matches — device IDs, function names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02336" y="2688336"/>
            <a:ext cx="347472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268833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270662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episodic store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291693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 · task log · audit trail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02336" y="3328416"/>
            <a:ext cx="347472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332841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334670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registry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355701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Python tools injected into prompts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02336" y="3968496"/>
            <a:ext cx="347472" cy="45720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396849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398678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41970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entity/relationship traversal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822960"/>
            <a:ext cx="4114800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822960"/>
            <a:ext cx="41148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822960"/>
            <a:ext cx="3877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 Retrieval Pipeline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28032" y="1408176"/>
            <a:ext cx="3858768" cy="475488"/>
          </a:xfrm>
          <a:prstGeom prst="rect">
            <a:avLst/>
          </a:prstGeom>
          <a:solidFill>
            <a:srgbClr val="F0F8FF"/>
          </a:solidFill>
          <a:ln w="9525">
            <a:solidFill>
              <a:srgbClr val="D1E8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28032" y="1408176"/>
            <a:ext cx="54864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14356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56048" y="16459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(Docling)  ·  Python (tree-sitter)  ·  Notebooks  ·  QCoDeS metadata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20840" y="1883664"/>
            <a:ext cx="18288" cy="100584"/>
          </a:xfrm>
          <a:prstGeom prst="rect">
            <a:avLst/>
          </a:prstGeom>
          <a:solidFill>
            <a:srgbClr val="AACCE0"/>
          </a:solidFill>
          <a:ln w="12700">
            <a:solidFill>
              <a:srgbClr val="AACC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28032" y="1984248"/>
            <a:ext cx="3858768" cy="475488"/>
          </a:xfrm>
          <a:prstGeom prst="rect">
            <a:avLst/>
          </a:prstGeom>
          <a:solidFill>
            <a:srgbClr val="F0F8FF"/>
          </a:solidFill>
          <a:ln w="9525">
            <a:solidFill>
              <a:srgbClr val="D1E8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28032" y="1984248"/>
            <a:ext cx="54864" cy="47548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56048" y="20116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956048" y="22219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nomic-embed (prose)  ·  CodeBERT (code)   02:00 nightly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720840" y="2459736"/>
            <a:ext cx="18288" cy="100584"/>
          </a:xfrm>
          <a:prstGeom prst="rect">
            <a:avLst/>
          </a:prstGeom>
          <a:solidFill>
            <a:srgbClr val="AACCE0"/>
          </a:solidFill>
          <a:ln w="12700">
            <a:solidFill>
              <a:srgbClr val="AACC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28032" y="2560320"/>
            <a:ext cx="3858768" cy="475488"/>
          </a:xfrm>
          <a:prstGeom prst="rect">
            <a:avLst/>
          </a:prstGeom>
          <a:solidFill>
            <a:srgbClr val="F0F8FF"/>
          </a:solidFill>
          <a:ln w="9525">
            <a:solidFill>
              <a:srgbClr val="D1E8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28032" y="2560320"/>
            <a:ext cx="54864" cy="4754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56048" y="2587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956048" y="27980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collections: group-wide + 6 sub-teams (prose &amp; code)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720840" y="3035808"/>
            <a:ext cx="18288" cy="100584"/>
          </a:xfrm>
          <a:prstGeom prst="rect">
            <a:avLst/>
          </a:prstGeom>
          <a:solidFill>
            <a:srgbClr val="AACCE0"/>
          </a:solidFill>
          <a:ln w="12700">
            <a:solidFill>
              <a:srgbClr val="AACC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28032" y="3136392"/>
            <a:ext cx="3858768" cy="475488"/>
          </a:xfrm>
          <a:prstGeom prst="rect">
            <a:avLst/>
          </a:prstGeom>
          <a:solidFill>
            <a:srgbClr val="F0F8FF"/>
          </a:solidFill>
          <a:ln w="9525">
            <a:solidFill>
              <a:srgbClr val="D1E8F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28032" y="3136392"/>
            <a:ext cx="54864" cy="47548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56048" y="316382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956048" y="33741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→ top-20 → cross-encoder rerank → top-5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720840" y="3611880"/>
            <a:ext cx="18288" cy="100584"/>
          </a:xfrm>
          <a:prstGeom prst="rect">
            <a:avLst/>
          </a:prstGeom>
          <a:solidFill>
            <a:srgbClr val="AACCE0"/>
          </a:solidFill>
          <a:ln w="12700">
            <a:solidFill>
              <a:srgbClr val="AACC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28032" y="3712464"/>
            <a:ext cx="3858768" cy="475488"/>
          </a:xfrm>
          <a:prstGeom prst="rect">
            <a:avLst/>
          </a:prstGeom>
          <a:solidFill>
            <a:srgbClr val="F0F8FF"/>
          </a:solidFill>
          <a:ln w="9525">
            <a:solidFill>
              <a:srgbClr val="D1E8F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28032" y="3712464"/>
            <a:ext cx="54864" cy="47548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56048" y="3739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1 first, Rank 2 last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956048" y="39502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Anti-lost-in-middle ordering before context injection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720840" y="4187952"/>
            <a:ext cx="18288" cy="100584"/>
          </a:xfrm>
          <a:prstGeom prst="rect">
            <a:avLst/>
          </a:prstGeom>
          <a:solidFill>
            <a:srgbClr val="AACCE0"/>
          </a:solidFill>
          <a:ln w="12700">
            <a:solidFill>
              <a:srgbClr val="AACC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28032" y="4288536"/>
            <a:ext cx="3858768" cy="475488"/>
          </a:xfrm>
          <a:prstGeom prst="rect">
            <a:avLst/>
          </a:prstGeom>
          <a:solidFill>
            <a:srgbClr val="F0F8FF"/>
          </a:solidFill>
          <a:ln w="9525">
            <a:solidFill>
              <a:srgbClr val="D1E8F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828032" y="4288536"/>
            <a:ext cx="54864" cy="475488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56048" y="43159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70B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4956048" y="45262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Assembled context: system + summary + window + RAG + task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Hardware — NVIDIA DGX Spark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0"/>
          </a:xfrm>
          <a:prstGeom prst="line">
            <a:avLst/>
          </a:prstGeom>
          <a:noFill/>
          <a:ln w="12700">
            <a:solidFill>
              <a:srgbClr val="D1E8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22960"/>
            <a:ext cx="4160520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160520" cy="4572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822960"/>
            <a:ext cx="3904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DGX Spark — On-Premises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02336" y="1408176"/>
            <a:ext cx="1188720" cy="457200"/>
          </a:xfrm>
          <a:prstGeom prst="rect">
            <a:avLst/>
          </a:prstGeom>
          <a:solidFill>
            <a:srgbClr val="E8F4F8"/>
          </a:solidFill>
          <a:ln w="9525">
            <a:solidFill>
              <a:srgbClr val="D1E8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40817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64208" y="146304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GB10 Grace Blackwell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2336" y="1975104"/>
            <a:ext cx="1188720" cy="457200"/>
          </a:xfrm>
          <a:prstGeom prst="rect">
            <a:avLst/>
          </a:prstGeom>
          <a:solidFill>
            <a:srgbClr val="E8F4F8"/>
          </a:solidFill>
          <a:ln w="9525">
            <a:solidFill>
              <a:srgbClr val="D1E8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197510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64208" y="202996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GB unified (CPU + GPU shared)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2336" y="2542032"/>
            <a:ext cx="1188720" cy="457200"/>
          </a:xfrm>
          <a:prstGeom prst="rect">
            <a:avLst/>
          </a:prstGeom>
          <a:solidFill>
            <a:srgbClr val="E8F4F8"/>
          </a:solidFill>
          <a:ln w="9525">
            <a:solidFill>
              <a:srgbClr val="D1E8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25420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64208" y="2596896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TB NVMe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2336" y="3108960"/>
            <a:ext cx="1188720" cy="457200"/>
          </a:xfrm>
          <a:prstGeom prst="rect">
            <a:avLst/>
          </a:prstGeom>
          <a:solidFill>
            <a:srgbClr val="E8F4F8"/>
          </a:solidFill>
          <a:ln w="9525">
            <a:solidFill>
              <a:srgbClr val="D1E8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3108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64208" y="3163824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GbE lab network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02336" y="3675888"/>
            <a:ext cx="1188720" cy="457200"/>
          </a:xfrm>
          <a:prstGeom prst="rect">
            <a:avLst/>
          </a:prstGeom>
          <a:solidFill>
            <a:srgbClr val="E8F4F8"/>
          </a:solidFill>
          <a:ln w="9525">
            <a:solidFill>
              <a:srgbClr val="D1E8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36758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64208" y="373075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vLLM, OpenAI-compatible endpoint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02336" y="4242816"/>
            <a:ext cx="1188720" cy="457200"/>
          </a:xfrm>
          <a:prstGeom prst="rect">
            <a:avLst/>
          </a:prstGeom>
          <a:solidFill>
            <a:srgbClr val="E8F4F8"/>
          </a:solidFill>
          <a:ln w="9525">
            <a:solidFill>
              <a:srgbClr val="D1E8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424281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policy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64208" y="429768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local — nothing leaves ICFO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822960"/>
            <a:ext cx="41148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822960"/>
            <a:ext cx="41148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822960"/>
            <a:ext cx="3877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3 70B — INT8 AWQ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28032" y="1408176"/>
            <a:ext cx="1005840" cy="320040"/>
          </a:xfrm>
          <a:prstGeom prst="rect">
            <a:avLst/>
          </a:prstGeom>
          <a:solidFill>
            <a:srgbClr val="E8F4F8"/>
          </a:solidFill>
          <a:ln w="9525">
            <a:solidFill>
              <a:srgbClr val="D1E8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140817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07024" y="1426464"/>
            <a:ext cx="2816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70B (NousResearch fine-tune)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28032" y="1792224"/>
            <a:ext cx="1005840" cy="320040"/>
          </a:xfrm>
          <a:prstGeom prst="rect">
            <a:avLst/>
          </a:prstGeom>
          <a:solidFill>
            <a:srgbClr val="E8F4F8"/>
          </a:solidFill>
          <a:ln w="9525">
            <a:solidFill>
              <a:srgbClr val="D1E8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179222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07024" y="1810512"/>
            <a:ext cx="2816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AWQ — ~70 GB weights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28032" y="2176272"/>
            <a:ext cx="1005840" cy="320040"/>
          </a:xfrm>
          <a:prstGeom prst="rect">
            <a:avLst/>
          </a:prstGeom>
          <a:solidFill>
            <a:srgbClr val="E8F4F8"/>
          </a:solidFill>
          <a:ln w="9525">
            <a:solidFill>
              <a:srgbClr val="D1E8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217627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07024" y="2194560"/>
            <a:ext cx="2816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32,768 tokens (~50–60 conv. turns)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28032" y="2560320"/>
            <a:ext cx="1005840" cy="320040"/>
          </a:xfrm>
          <a:prstGeom prst="rect">
            <a:avLst/>
          </a:prstGeom>
          <a:solidFill>
            <a:srgbClr val="E8F4F8"/>
          </a:solidFill>
          <a:ln w="9525">
            <a:solidFill>
              <a:srgbClr val="D1E8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25603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Speciality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907024" y="2578608"/>
            <a:ext cx="2816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calling, agentic behaviour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09160" y="2798064"/>
            <a:ext cx="4114800" cy="2093976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2798064"/>
            <a:ext cx="411480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28032" y="2798064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GB Memory Breakdown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28032" y="32918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70B weights (INT8)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278624" y="3328416"/>
            <a:ext cx="1188720" cy="201168"/>
          </a:xfrm>
          <a:prstGeom prst="rect">
            <a:avLst/>
          </a:prstGeom>
          <a:solidFill>
            <a:srgbClr val="E2ECF5"/>
          </a:solidFill>
          <a:ln w="12700">
            <a:solidFill>
              <a:srgbClr val="E2ECF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78624" y="3328416"/>
            <a:ext cx="650081" cy="2011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22208" y="329184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GB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828032" y="36941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at 32K context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278624" y="3730752"/>
            <a:ext cx="1188720" cy="201168"/>
          </a:xfrm>
          <a:prstGeom prst="rect">
            <a:avLst/>
          </a:prstGeom>
          <a:solidFill>
            <a:srgbClr val="E2ECF5"/>
          </a:solidFill>
          <a:ln w="12700">
            <a:solidFill>
              <a:srgbClr val="E2ECF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278624" y="3730752"/>
            <a:ext cx="92869" cy="2011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22208" y="3694176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GB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828032" y="40965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models (×2)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278624" y="4133088"/>
            <a:ext cx="1188720" cy="201168"/>
          </a:xfrm>
          <a:prstGeom prst="rect">
            <a:avLst/>
          </a:prstGeom>
          <a:solidFill>
            <a:srgbClr val="E2ECF5"/>
          </a:solidFill>
          <a:ln w="12700">
            <a:solidFill>
              <a:srgbClr val="E2ECF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278624" y="4133088"/>
            <a:ext cx="36576" cy="2011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522208" y="409651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GB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828032" y="44988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headroom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278624" y="4535424"/>
            <a:ext cx="1188720" cy="201168"/>
          </a:xfrm>
          <a:prstGeom prst="rect">
            <a:avLst/>
          </a:prstGeom>
          <a:solidFill>
            <a:srgbClr val="E2ECF5"/>
          </a:solidFill>
          <a:ln w="12700">
            <a:solidFill>
              <a:srgbClr val="E2ECF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278624" y="4535424"/>
            <a:ext cx="436483" cy="201168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522208" y="449884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GB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— LangGraph + Teams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0"/>
          </a:xfrm>
          <a:prstGeom prst="line">
            <a:avLst/>
          </a:prstGeom>
          <a:noFill/>
          <a:ln w="12700">
            <a:solidFill>
              <a:srgbClr val="D1E8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841248"/>
            <a:ext cx="2743200" cy="475488"/>
          </a:xfrm>
          <a:prstGeom prst="rect">
            <a:avLst/>
          </a:prstGeom>
          <a:solidFill>
            <a:srgbClr val="1C6B9E"/>
          </a:solidFill>
          <a:ln w="12700">
            <a:solidFill>
              <a:srgbClr val="1C6B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84124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Teams Bot  (single bot)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62856" y="1316736"/>
            <a:ext cx="18288" cy="256032"/>
          </a:xfrm>
          <a:prstGeom prst="rect">
            <a:avLst/>
          </a:prstGeom>
          <a:solidFill>
            <a:srgbClr val="AACCE0"/>
          </a:solidFill>
          <a:ln w="12700">
            <a:solidFill>
              <a:srgbClr val="AACC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1572768"/>
            <a:ext cx="3474720" cy="512064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15727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QNOE-Agent  (Orchestrator)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34640" y="184708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 ·  memory  ·  approvals  ·  cross-team synthesis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62856" y="2084832"/>
            <a:ext cx="18288" cy="256032"/>
          </a:xfrm>
          <a:prstGeom prst="rect">
            <a:avLst/>
          </a:prstGeom>
          <a:solidFill>
            <a:srgbClr val="AACCE0"/>
          </a:solidFill>
          <a:ln w="12700">
            <a:solidFill>
              <a:srgbClr val="AACC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359152"/>
            <a:ext cx="8138160" cy="18288"/>
          </a:xfrm>
          <a:prstGeom prst="rect">
            <a:avLst/>
          </a:prstGeom>
          <a:solidFill>
            <a:srgbClr val="AACCE0"/>
          </a:solidFill>
          <a:ln w="12700">
            <a:solidFill>
              <a:srgbClr val="AACC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93876" y="2359152"/>
            <a:ext cx="18288" cy="201168"/>
          </a:xfrm>
          <a:prstGeom prst="rect">
            <a:avLst/>
          </a:prstGeom>
          <a:solidFill>
            <a:srgbClr val="AACCE0"/>
          </a:solidFill>
          <a:ln w="12700">
            <a:solidFill>
              <a:srgbClr val="AACC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9516" y="2560320"/>
            <a:ext cx="1207008" cy="47548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9516" y="2560320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QED-Agent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01468" y="2359152"/>
            <a:ext cx="18288" cy="201168"/>
          </a:xfrm>
          <a:prstGeom prst="rect">
            <a:avLst/>
          </a:prstGeom>
          <a:solidFill>
            <a:srgbClr val="AACCE0"/>
          </a:solidFill>
          <a:ln w="12700">
            <a:solidFill>
              <a:srgbClr val="AACC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07108" y="2560320"/>
            <a:ext cx="1207008" cy="47548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07108" y="2560320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Supercon.-Agent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909060" y="2359152"/>
            <a:ext cx="18288" cy="201168"/>
          </a:xfrm>
          <a:prstGeom prst="rect">
            <a:avLst/>
          </a:prstGeom>
          <a:solidFill>
            <a:srgbClr val="AACCE0"/>
          </a:solidFill>
          <a:ln w="12700">
            <a:solidFill>
              <a:srgbClr val="AACC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14700" y="2560320"/>
            <a:ext cx="1207008" cy="4754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4700" y="2560320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Photocurr.-Agent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16652" y="2359152"/>
            <a:ext cx="18288" cy="201168"/>
          </a:xfrm>
          <a:prstGeom prst="rect">
            <a:avLst/>
          </a:prstGeom>
          <a:solidFill>
            <a:srgbClr val="AACCE0"/>
          </a:solidFill>
          <a:ln w="12700">
            <a:solidFill>
              <a:srgbClr val="AACC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22292" y="2560320"/>
            <a:ext cx="1207008" cy="4754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22292" y="2560320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QTM-Agent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24244" y="2359152"/>
            <a:ext cx="18288" cy="201168"/>
          </a:xfrm>
          <a:prstGeom prst="rect">
            <a:avLst/>
          </a:prstGeom>
          <a:solidFill>
            <a:srgbClr val="AACCE0"/>
          </a:solidFill>
          <a:ln w="12700">
            <a:solidFill>
              <a:srgbClr val="AACC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29884" y="2560320"/>
            <a:ext cx="1207008" cy="47548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29884" y="2560320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QSIM-Agent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831836" y="2359152"/>
            <a:ext cx="18288" cy="201168"/>
          </a:xfrm>
          <a:prstGeom prst="rect">
            <a:avLst/>
          </a:prstGeom>
          <a:solidFill>
            <a:srgbClr val="AACCE0"/>
          </a:solidFill>
          <a:ln w="12700">
            <a:solidFill>
              <a:srgbClr val="AACC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37476" y="2560320"/>
            <a:ext cx="1207008" cy="47548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37476" y="2560320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XCHIRAL-Agent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310128"/>
            <a:ext cx="41605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310128"/>
            <a:ext cx="416052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2336" y="3310128"/>
            <a:ext cx="3904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Sessions (LangGraph)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02336" y="3858768"/>
            <a:ext cx="91440" cy="914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3767328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conversation = separate LangGraph instance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02336" y="4133088"/>
            <a:ext cx="91440" cy="914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4041648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QTM member and Photocurr. member can talk simultaneously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02336" y="4407408"/>
            <a:ext cx="91440" cy="914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4315968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60-turn window + auto-summarisation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02336" y="4681728"/>
            <a:ext cx="91440" cy="914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4590288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persist across days  (keyed to Teams conversation ID)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9160" y="3310128"/>
            <a:ext cx="41148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3310128"/>
            <a:ext cx="411480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28032" y="3310128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Triggers (02:00 sweep)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28032" y="3858768"/>
            <a:ext cx="91440" cy="914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92624" y="376732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PR open &gt; 48 h  →  DM to author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28032" y="4133088"/>
            <a:ext cx="91440" cy="914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92624" y="404164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commit pushed  →  channel notification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828032" y="4407408"/>
            <a:ext cx="91440" cy="914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92624" y="431596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 notebook cell  →  DM to repo owner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828032" y="4681728"/>
            <a:ext cx="91440" cy="914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92624" y="459028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paper indexed  →  3-sentence summary to channel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Roadmap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0"/>
          </a:xfrm>
          <a:prstGeom prst="line">
            <a:avLst/>
          </a:prstGeom>
          <a:noFill/>
          <a:ln w="12700">
            <a:solidFill>
              <a:srgbClr val="D1E8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633472" y="987552"/>
            <a:ext cx="6236208" cy="3858768"/>
          </a:xfrm>
          <a:prstGeom prst="rect">
            <a:avLst/>
          </a:prstGeom>
          <a:solidFill>
            <a:srgbClr val="F8FBFF"/>
          </a:solidFill>
          <a:ln w="9525">
            <a:solidFill>
              <a:srgbClr val="E2EC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33472" y="1307592"/>
            <a:ext cx="6236208" cy="493776"/>
          </a:xfrm>
          <a:prstGeom prst="rect">
            <a:avLst/>
          </a:prstGeom>
          <a:solidFill>
            <a:srgbClr val="EBF4FB">
              <a:alpha val="70000"/>
            </a:srgbClr>
          </a:solidFill>
          <a:ln w="12700">
            <a:solidFill>
              <a:srgbClr val="EBF4FB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33472" y="2295144"/>
            <a:ext cx="6236208" cy="493776"/>
          </a:xfrm>
          <a:prstGeom prst="rect">
            <a:avLst/>
          </a:prstGeom>
          <a:solidFill>
            <a:srgbClr val="EBF4FB">
              <a:alpha val="70000"/>
            </a:srgbClr>
          </a:solidFill>
          <a:ln w="12700">
            <a:solidFill>
              <a:srgbClr val="EBF4FB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33472" y="3282696"/>
            <a:ext cx="6236208" cy="493776"/>
          </a:xfrm>
          <a:prstGeom prst="rect">
            <a:avLst/>
          </a:prstGeom>
          <a:solidFill>
            <a:srgbClr val="EBF4FB">
              <a:alpha val="70000"/>
            </a:srgbClr>
          </a:solidFill>
          <a:ln w="12700">
            <a:solidFill>
              <a:srgbClr val="EBF4FB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33472" y="987552"/>
            <a:ext cx="9144" cy="3858768"/>
          </a:xfrm>
          <a:prstGeom prst="rect">
            <a:avLst/>
          </a:prstGeom>
          <a:solidFill>
            <a:srgbClr val="CADCE8"/>
          </a:solidFill>
          <a:ln w="12700">
            <a:solidFill>
              <a:srgbClr val="CADC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92524" y="987552"/>
            <a:ext cx="9144" cy="3858768"/>
          </a:xfrm>
          <a:prstGeom prst="rect">
            <a:avLst/>
          </a:prstGeom>
          <a:solidFill>
            <a:srgbClr val="CADCE8"/>
          </a:solidFill>
          <a:ln w="12700">
            <a:solidFill>
              <a:srgbClr val="CADC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09644" y="10332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751576" y="987552"/>
            <a:ext cx="9144" cy="3858768"/>
          </a:xfrm>
          <a:prstGeom prst="rect">
            <a:avLst/>
          </a:prstGeom>
          <a:solidFill>
            <a:srgbClr val="CADCE8"/>
          </a:solidFill>
          <a:ln w="12700">
            <a:solidFill>
              <a:srgbClr val="CADC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68696" y="10332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310628" y="987552"/>
            <a:ext cx="9144" cy="3858768"/>
          </a:xfrm>
          <a:prstGeom prst="rect">
            <a:avLst/>
          </a:prstGeom>
          <a:solidFill>
            <a:srgbClr val="CADCE8"/>
          </a:solidFill>
          <a:ln w="12700">
            <a:solidFill>
              <a:srgbClr val="CADC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27748" y="10332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W15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869680" y="987552"/>
            <a:ext cx="9144" cy="3858768"/>
          </a:xfrm>
          <a:prstGeom prst="rect">
            <a:avLst/>
          </a:prstGeom>
          <a:solidFill>
            <a:srgbClr val="CADCE8"/>
          </a:solidFill>
          <a:ln w="12700">
            <a:solidFill>
              <a:srgbClr val="CADC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0" y="10332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W20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633472" y="10332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74320" y="12618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— DGX Setup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4320" y="147218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· vLLM · Qdrant · shell env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633472" y="1307592"/>
            <a:ext cx="935431" cy="310896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88336" y="1307592"/>
            <a:ext cx="8622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17556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MVP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74320" y="19659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· QTM-Agent · Photocurrent-Agent · T0/T1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57093" y="1801368"/>
            <a:ext cx="1559052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1957" y="1801368"/>
            <a:ext cx="1485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224942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All sub-agents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74320" y="245973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QED · Supercon. · QSIM · XCHIRAL · full RAG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04334" y="2295144"/>
            <a:ext cx="1559052" cy="3108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59198" y="2295144"/>
            <a:ext cx="1485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" y="27432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Write access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74320" y="295351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T2–T4 gates · soft-delete · audit log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439766" y="2788920"/>
            <a:ext cx="1247242" cy="31089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94630" y="2788920"/>
            <a:ext cx="11740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" y="32369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Skill registry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74320" y="34472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Nbandstructure · GRASP-TWINS · external skills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375197" y="3282696"/>
            <a:ext cx="1247242" cy="3108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30061" y="3282696"/>
            <a:ext cx="11740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74320" y="37307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BM25 + Phase 2 caps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74320" y="394106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· measurement MCPs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998818" y="3776472"/>
            <a:ext cx="1870862" cy="310896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53682" y="3776472"/>
            <a:ext cx="179771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5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07001" y="1261872"/>
            <a:ext cx="18288" cy="8961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23537" y="1261872"/>
            <a:ext cx="585216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23537" y="1261872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4320" y="4773168"/>
            <a:ext cx="182880" cy="128016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3776" y="476402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0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517904" y="4773168"/>
            <a:ext cx="182880" cy="12801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737360" y="476402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1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761488" y="4773168"/>
            <a:ext cx="182880" cy="12801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80944" y="476402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2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005072" y="4773168"/>
            <a:ext cx="182880" cy="12801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24528" y="476402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3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248656" y="4773168"/>
            <a:ext cx="182880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68112" y="476402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4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492240" y="4773168"/>
            <a:ext cx="182880" cy="128016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11696" y="476402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5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7735824" y="4773168"/>
            <a:ext cx="182880" cy="1280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955280" y="476402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milestone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QNOE Lab AI Agent</dc:title>
  <dc:subject>PptxGenJS Presentation</dc:subject>
  <dc:creator>QNOE Group, ICFO</dc:creator>
  <cp:lastModifiedBy>QNOE Group, ICFO</cp:lastModifiedBy>
  <cp:revision>1</cp:revision>
  <dcterms:created xsi:type="dcterms:W3CDTF">2026-05-27T09:24:01Z</dcterms:created>
  <dcterms:modified xsi:type="dcterms:W3CDTF">2026-05-27T09:24:01Z</dcterms:modified>
</cp:coreProperties>
</file>